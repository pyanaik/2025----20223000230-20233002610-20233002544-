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6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D2AC2-7447-C8D3-FE53-74A72A644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C7C14D-0953-757D-2DDB-315971F60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637BC-0A2E-A1EF-0E0E-4F67F3CC8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EE4651-4BEC-EC70-EC99-491746121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14937-549D-E59C-FE90-B4591143D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66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257C6-9E8F-30FC-6013-F8A8D024D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DB1783-C953-0BF1-CF23-048071284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9CD48-AEF1-6387-0641-D94B3747F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1EEBC-26C7-97D4-9361-4F12231AD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547893-1B8B-7184-B721-BFB8E4A9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1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C17AE-A29F-6A0D-F44C-CCE7DAE88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17EF24-14AF-9DAE-A2C0-58698BE84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B27A63-3A0A-982A-B607-C465AB446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909A7C-143C-85D8-D94B-95E86B142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AF24C-FFE3-1C92-FC23-4E5793ED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447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54231-E02A-1EAA-8420-C3267DE6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F064A9-43EF-19B8-F927-F1C925F85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3F4505-5C44-4744-1ED5-240273B01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12A7A2-94C4-155C-944D-D14BE514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224CBB-436D-1DF8-18C7-75A1D1CB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BD1E29-35F1-88D2-A75E-9B2A895B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389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EB5C53-9C17-BD64-3775-3795EDF6D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AF54CE-9C15-1830-F46F-4C9BFF9FD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FDF5948-7A1F-D142-3233-1B3D9F986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8FD9FF5-5EB4-FCB6-4E7F-8DC395604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E56CE3-BA54-F8E6-B973-3F760F9D6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72A94C-8DB0-D4E6-D32E-0DFFE47B0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A54402-FDCE-7425-1BF9-37305CEC3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DABF78-F224-D428-AC52-D2C79614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158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F64FE-8191-BF8B-FA40-7AE1151D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AD8F94-3032-636C-FD5A-1B2E1EEC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4754D3-797F-F643-0A38-B1171B09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9885FF-FD52-A778-2F20-D0C7D3C3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8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2D7FD6D-176E-47B7-2D8E-A2F5B86E7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285260-92D6-7C7A-BFEC-7071FEA1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FB8848-C09B-84A8-48F8-19307AB78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079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28B0DD-507A-AF5B-D676-43C2014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2E834-15B7-AD53-3B02-5F8588E26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DD674C-0239-0665-417A-C3188EF8E1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C159AE-D690-8449-B906-8BA0605E9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E6BC9B-D815-853C-D82B-05305063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5C3FBA-31A9-783F-CEF2-4A5E52F47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7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E704C-E274-ACD0-4E0D-F63E3BA9D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5091EC8-8AA6-C5EE-3922-9B47477C1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5E67795-BD60-7EB9-7464-7E832BE05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A92513-9CEC-C036-3A75-400ED4140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A2C18D-9EB0-1A26-975E-70F19BF2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C6953D-2C57-50A5-9256-F057BFC8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46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0E51F-6208-8ECB-65D9-FA28E350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F1EB3-F167-C619-BCCA-5B0CEB9A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E830B-3D91-2EA9-A663-1881AB4F2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C9F0B3-5240-B962-B19E-F8053152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929F96-5272-942B-6F5A-22C65356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255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4C0941-FE4D-4568-0345-A2CA84E35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25ACDEA-E7BF-04BF-2E2F-561D0C695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92D21-0D32-2DD3-FC46-9642D787D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420CC-F56F-E241-CE87-787EC073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F66E9F-3911-6F79-36B3-AD77D62D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90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247D4D5-A747-5D16-D942-46396B0B3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813D0E-F2F4-77B3-A4A0-04700FA51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B8F51-BFF1-DA6E-0E86-C98967B1BB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3B913-BB4E-43BB-BDD7-A3B24178201A}" type="datetimeFigureOut">
              <a:rPr lang="zh-CN" altLang="en-US" smtClean="0"/>
              <a:t>2025/12/25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573D68-769E-9AB7-06E8-B05162411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D88FCC-6FDA-C5DD-362C-11FF51EE3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BAE4A2-8FC1-4C08-BD3D-4E1B6C86FA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136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1.bin"/><Relationship Id="rId2" Type="http://schemas.openxmlformats.org/officeDocument/2006/relationships/image" Target="../media/image6.png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2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6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144F1F2-AC66-186F-189A-2E7D574D0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7" b="877"/>
          <a:stretch/>
        </p:blipFill>
        <p:spPr>
          <a:xfrm>
            <a:off x="2580687" y="796413"/>
            <a:ext cx="7332734" cy="5392837"/>
          </a:xfrm>
          <a:prstGeom prst="rect">
            <a:avLst/>
          </a:prstGeom>
        </p:spPr>
      </p:pic>
      <p:grpSp>
        <p:nvGrpSpPr>
          <p:cNvPr id="34" name="组合 33">
            <a:extLst>
              <a:ext uri="{FF2B5EF4-FFF2-40B4-BE49-F238E27FC236}">
                <a16:creationId xmlns:a16="http://schemas.microsoft.com/office/drawing/2014/main" id="{0B5C7CD4-6BE0-B1CC-6AE5-FD9F274C2375}"/>
              </a:ext>
            </a:extLst>
          </p:cNvPr>
          <p:cNvGrpSpPr/>
          <p:nvPr/>
        </p:nvGrpSpPr>
        <p:grpSpPr>
          <a:xfrm>
            <a:off x="3730515" y="1199534"/>
            <a:ext cx="5137319" cy="3617591"/>
            <a:chOff x="3205249" y="1347019"/>
            <a:chExt cx="5137319" cy="361759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86182D5-904C-FD79-8951-103C7B13F3AB}"/>
                </a:ext>
              </a:extLst>
            </p:cNvPr>
            <p:cNvSpPr txBox="1"/>
            <p:nvPr/>
          </p:nvSpPr>
          <p:spPr>
            <a:xfrm>
              <a:off x="3489943" y="1347019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CF7949D-22E9-F05C-7EDB-4E38246F464C}"/>
                </a:ext>
              </a:extLst>
            </p:cNvPr>
            <p:cNvSpPr txBox="1"/>
            <p:nvPr/>
          </p:nvSpPr>
          <p:spPr>
            <a:xfrm>
              <a:off x="6990227" y="1347019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60609C-8661-5AE9-AE10-64140931A4B9}"/>
                </a:ext>
              </a:extLst>
            </p:cNvPr>
            <p:cNvSpPr txBox="1"/>
            <p:nvPr/>
          </p:nvSpPr>
          <p:spPr>
            <a:xfrm>
              <a:off x="6997328" y="3740552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IV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EE510F2-8371-8BA8-D535-73BE010523DB}"/>
                </a:ext>
              </a:extLst>
            </p:cNvPr>
            <p:cNvSpPr txBox="1"/>
            <p:nvPr/>
          </p:nvSpPr>
          <p:spPr>
            <a:xfrm>
              <a:off x="3228333" y="3524644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III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93FD4AB-9094-90DC-6F66-5ACB5127B625}"/>
                </a:ext>
              </a:extLst>
            </p:cNvPr>
            <p:cNvSpPr txBox="1"/>
            <p:nvPr/>
          </p:nvSpPr>
          <p:spPr>
            <a:xfrm>
              <a:off x="6542075" y="1868740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攻击者不买信息</a:t>
              </a:r>
              <a:endPara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直接攻击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3FA3D0-0B27-1F19-ABB3-1A28F41C9C7F}"/>
                </a:ext>
              </a:extLst>
            </p:cNvPr>
            <p:cNvSpPr txBox="1"/>
            <p:nvPr/>
          </p:nvSpPr>
          <p:spPr>
            <a:xfrm>
              <a:off x="3205249" y="1716351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攻击者</a:t>
              </a:r>
              <a:endPara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买信息</a:t>
              </a:r>
              <a:endPara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并攻击</a:t>
              </a: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ACFE3E7B-4F95-4266-A449-F1D0A00F73B6}"/>
                </a:ext>
              </a:extLst>
            </p:cNvPr>
            <p:cNvGrpSpPr/>
            <p:nvPr/>
          </p:nvGrpSpPr>
          <p:grpSpPr>
            <a:xfrm>
              <a:off x="3228333" y="4318279"/>
              <a:ext cx="2262159" cy="646331"/>
              <a:chOff x="3386438" y="4446486"/>
              <a:chExt cx="2262159" cy="646331"/>
            </a:xfrm>
          </p:grpSpPr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9E1F934-F91C-0098-EA78-F3A093420D37}"/>
                  </a:ext>
                </a:extLst>
              </p:cNvPr>
              <p:cNvSpPr txBox="1"/>
              <p:nvPr/>
            </p:nvSpPr>
            <p:spPr>
              <a:xfrm>
                <a:off x="3386438" y="4446486"/>
                <a:ext cx="226215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攻击者买信息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并在    情况下攻击</a:t>
                </a:r>
              </a:p>
            </p:txBody>
          </p:sp>
          <p:graphicFrame>
            <p:nvGraphicFramePr>
              <p:cNvPr id="19" name="对象 18">
                <a:extLst>
                  <a:ext uri="{FF2B5EF4-FFF2-40B4-BE49-F238E27FC236}">
                    <a16:creationId xmlns:a16="http://schemas.microsoft.com/office/drawing/2014/main" id="{09289DDD-441A-22BD-DB08-919A4C7BA4C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9292911"/>
                  </p:ext>
                </p:extLst>
              </p:nvPr>
            </p:nvGraphicFramePr>
            <p:xfrm>
              <a:off x="3923765" y="4792883"/>
              <a:ext cx="476318" cy="2232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" imgW="406080" imgH="190440" progId="Equation.DSMT4">
                      <p:embed/>
                    </p:oleObj>
                  </mc:Choice>
                  <mc:Fallback>
                    <p:oleObj name="Equation" r:id="rId3" imgW="406080" imgH="19044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923765" y="4792883"/>
                            <a:ext cx="476318" cy="22327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E9061E4-4B57-077A-B3E0-FB84BC3373B2}"/>
                </a:ext>
              </a:extLst>
            </p:cNvPr>
            <p:cNvSpPr txBox="1"/>
            <p:nvPr/>
          </p:nvSpPr>
          <p:spPr>
            <a:xfrm>
              <a:off x="6428534" y="4219857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攻击者不买信息</a:t>
              </a:r>
              <a:endPara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也不进行攻击</a:t>
              </a:r>
            </a:p>
          </p:txBody>
        </p:sp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55AE374F-9034-D3E6-AFE2-6820F61E86A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6241494"/>
                </p:ext>
              </p:extLst>
            </p:nvPr>
          </p:nvGraphicFramePr>
          <p:xfrm>
            <a:off x="4929483" y="1716351"/>
            <a:ext cx="457200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57200" imgH="444240" progId="Equation.DSMT4">
                    <p:embed/>
                  </p:oleObj>
                </mc:Choice>
                <mc:Fallback>
                  <p:oleObj name="Equation" r:id="rId5" imgW="457200" imgH="4442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29483" y="1716351"/>
                          <a:ext cx="457200" cy="444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93DAB3A0-F572-4C93-B9EA-29D6ADC3C5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750812"/>
                </p:ext>
              </p:extLst>
            </p:nvPr>
          </p:nvGraphicFramePr>
          <p:xfrm>
            <a:off x="4735994" y="3768917"/>
            <a:ext cx="520700" cy="469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20560" imgH="469800" progId="Equation.DSMT4">
                    <p:embed/>
                  </p:oleObj>
                </mc:Choice>
                <mc:Fallback>
                  <p:oleObj name="Equation" r:id="rId7" imgW="520560" imgH="46980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55AE374F-9034-D3E6-AFE2-6820F61E86A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35994" y="3768917"/>
                          <a:ext cx="520700" cy="469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0902FD1-E93D-4CFF-B372-55AFFF020BA0}"/>
                </a:ext>
              </a:extLst>
            </p:cNvPr>
            <p:cNvCxnSpPr>
              <a:cxnSpLocks/>
              <a:endCxn id="23" idx="1"/>
            </p:cNvCxnSpPr>
            <p:nvPr/>
          </p:nvCxnSpPr>
          <p:spPr>
            <a:xfrm flipV="1">
              <a:off x="4522839" y="1938601"/>
              <a:ext cx="406644" cy="49094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FBECE1B4-50D2-B637-552A-622AE8588D82}"/>
                </a:ext>
              </a:extLst>
            </p:cNvPr>
            <p:cNvCxnSpPr>
              <a:cxnSpLocks/>
            </p:cNvCxnSpPr>
            <p:nvPr/>
          </p:nvCxnSpPr>
          <p:spPr>
            <a:xfrm>
              <a:off x="4139606" y="3893976"/>
              <a:ext cx="586555" cy="1098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7647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CCF2B517-CE91-4EE3-B011-C7BF415FA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84" y="762000"/>
            <a:ext cx="9062368" cy="5152103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4859511-BE02-27DE-5C74-1E604338AFE9}"/>
              </a:ext>
            </a:extLst>
          </p:cNvPr>
          <p:cNvSpPr/>
          <p:nvPr/>
        </p:nvSpPr>
        <p:spPr>
          <a:xfrm>
            <a:off x="1838630" y="943897"/>
            <a:ext cx="2389239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Stackelberg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博弈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4003A0-03B3-29AF-19B4-2B2ABB8EDBB7}"/>
              </a:ext>
            </a:extLst>
          </p:cNvPr>
          <p:cNvSpPr/>
          <p:nvPr/>
        </p:nvSpPr>
        <p:spPr>
          <a:xfrm>
            <a:off x="2113934" y="1582994"/>
            <a:ext cx="3775587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数据交易者为信息定价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10FA574-0C21-D72C-2E8D-A7314278F663}"/>
              </a:ext>
            </a:extLst>
          </p:cNvPr>
          <p:cNvSpPr/>
          <p:nvPr/>
        </p:nvSpPr>
        <p:spPr>
          <a:xfrm>
            <a:off x="1838630" y="2509684"/>
            <a:ext cx="4340943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攻击者购买竞争博弈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6E1E52-7788-6E29-A515-C8ED1813C120}"/>
              </a:ext>
            </a:extLst>
          </p:cNvPr>
          <p:cNvSpPr/>
          <p:nvPr/>
        </p:nvSpPr>
        <p:spPr>
          <a:xfrm>
            <a:off x="1927123" y="3163528"/>
            <a:ext cx="4168877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攻击者的购买策略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2A661B-C486-9A25-CFF5-47F8DD95E044}"/>
              </a:ext>
            </a:extLst>
          </p:cNvPr>
          <p:cNvSpPr/>
          <p:nvPr/>
        </p:nvSpPr>
        <p:spPr>
          <a:xfrm>
            <a:off x="3126657" y="5100483"/>
            <a:ext cx="2045112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27B0A5-8584-3539-79F0-10B1653EED39}"/>
              </a:ext>
            </a:extLst>
          </p:cNvPr>
          <p:cNvSpPr/>
          <p:nvPr/>
        </p:nvSpPr>
        <p:spPr>
          <a:xfrm>
            <a:off x="3126657" y="5535562"/>
            <a:ext cx="2045112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逻辑关联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48E652-2771-81A3-A6F9-F9096B4240D3}"/>
              </a:ext>
            </a:extLst>
          </p:cNvPr>
          <p:cNvSpPr/>
          <p:nvPr/>
        </p:nvSpPr>
        <p:spPr>
          <a:xfrm>
            <a:off x="6179573" y="4347087"/>
            <a:ext cx="4168877" cy="3490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攻击者攻击竞争博弈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307544E-9AFD-25F2-87FF-E8B456FADDA4}"/>
              </a:ext>
            </a:extLst>
          </p:cNvPr>
          <p:cNvSpPr/>
          <p:nvPr/>
        </p:nvSpPr>
        <p:spPr>
          <a:xfrm>
            <a:off x="6479457" y="3105763"/>
            <a:ext cx="1425678" cy="813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决定收益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0AF4A60-3216-078F-4A78-0B22D72B211B}"/>
              </a:ext>
            </a:extLst>
          </p:cNvPr>
          <p:cNvSpPr/>
          <p:nvPr/>
        </p:nvSpPr>
        <p:spPr>
          <a:xfrm>
            <a:off x="6307392" y="4984954"/>
            <a:ext cx="3913238" cy="5211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攻击者的攻击策略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FB57BDF-46CB-8439-3F1A-12BDE2645AE1}"/>
              </a:ext>
            </a:extLst>
          </p:cNvPr>
          <p:cNvSpPr/>
          <p:nvPr/>
        </p:nvSpPr>
        <p:spPr>
          <a:xfrm>
            <a:off x="8490154" y="2182762"/>
            <a:ext cx="2109020" cy="15350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决定攻击者可获得的信息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3BC208-24D6-193D-F465-028B412D4775}"/>
              </a:ext>
            </a:extLst>
          </p:cNvPr>
          <p:cNvSpPr/>
          <p:nvPr/>
        </p:nvSpPr>
        <p:spPr>
          <a:xfrm>
            <a:off x="1749730" y="2509684"/>
            <a:ext cx="88900" cy="455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C6A4EE-6E63-3821-15F5-AFF293C38BFF}"/>
              </a:ext>
            </a:extLst>
          </p:cNvPr>
          <p:cNvSpPr/>
          <p:nvPr/>
        </p:nvSpPr>
        <p:spPr>
          <a:xfrm>
            <a:off x="6135123" y="2509684"/>
            <a:ext cx="88900" cy="455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546D38-497B-7CD5-8B30-A88F5D4DE5E9}"/>
              </a:ext>
            </a:extLst>
          </p:cNvPr>
          <p:cNvSpPr/>
          <p:nvPr/>
        </p:nvSpPr>
        <p:spPr>
          <a:xfrm>
            <a:off x="6096000" y="4338893"/>
            <a:ext cx="88900" cy="4558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58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970E1C2-51AC-F7D5-B6CF-E15AFCC45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26" y="633734"/>
            <a:ext cx="7204122" cy="53928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BDCB7C-E5FA-0021-BCB1-3A6913B5F0BA}"/>
              </a:ext>
            </a:extLst>
          </p:cNvPr>
          <p:cNvSpPr txBox="1"/>
          <p:nvPr/>
        </p:nvSpPr>
        <p:spPr>
          <a:xfrm>
            <a:off x="3039204" y="1684613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（购买，购买）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E7027D8-4625-7C3B-CA60-818F010EB6CE}"/>
              </a:ext>
            </a:extLst>
          </p:cNvPr>
          <p:cNvSpPr txBox="1"/>
          <p:nvPr/>
        </p:nvSpPr>
        <p:spPr>
          <a:xfrm>
            <a:off x="3718877" y="1396304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EA77CA-64D4-43C4-C0CE-535619AC7F26}"/>
              </a:ext>
            </a:extLst>
          </p:cNvPr>
          <p:cNvSpPr txBox="1"/>
          <p:nvPr/>
        </p:nvSpPr>
        <p:spPr>
          <a:xfrm>
            <a:off x="5056931" y="202133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E25C16-300F-BFCF-BE58-40BD04D5C6B8}"/>
              </a:ext>
            </a:extLst>
          </p:cNvPr>
          <p:cNvSpPr txBox="1"/>
          <p:nvPr/>
        </p:nvSpPr>
        <p:spPr>
          <a:xfrm>
            <a:off x="7434682" y="271987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F0F103-FFAF-B3D5-DBD8-996EB50AEEA9}"/>
              </a:ext>
            </a:extLst>
          </p:cNvPr>
          <p:cNvSpPr txBox="1"/>
          <p:nvPr/>
        </p:nvSpPr>
        <p:spPr>
          <a:xfrm>
            <a:off x="3635522" y="3767792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A4B39CB-A15B-31A2-3EAC-67433AA91C6B}"/>
              </a:ext>
            </a:extLst>
          </p:cNvPr>
          <p:cNvSpPr txBox="1"/>
          <p:nvPr/>
        </p:nvSpPr>
        <p:spPr>
          <a:xfrm>
            <a:off x="6588297" y="3089209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（不购买，不购买）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84E127-1AB9-90B9-E4C1-BFB38B87758C}"/>
              </a:ext>
            </a:extLst>
          </p:cNvPr>
          <p:cNvSpPr/>
          <p:nvPr/>
        </p:nvSpPr>
        <p:spPr>
          <a:xfrm>
            <a:off x="6588297" y="3589020"/>
            <a:ext cx="2128983" cy="175260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48D0F01-0A6C-7089-978E-AE2388797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358051"/>
              </p:ext>
            </p:extLst>
          </p:nvPr>
        </p:nvGraphicFramePr>
        <p:xfrm>
          <a:off x="4279900" y="464712"/>
          <a:ext cx="567321" cy="5495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06080" imgH="393480" progId="Equation.DSMT4">
                  <p:embed/>
                </p:oleObj>
              </mc:Choice>
              <mc:Fallback>
                <p:oleObj name="Equation" r:id="rId3" imgW="4060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79900" y="464712"/>
                        <a:ext cx="567321" cy="5495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03D36FD-927A-4066-A1C8-9E3DBE8D10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1906157"/>
              </p:ext>
            </p:extLst>
          </p:nvPr>
        </p:nvGraphicFramePr>
        <p:xfrm>
          <a:off x="3262459" y="2053945"/>
          <a:ext cx="7461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0" imgH="393480" progId="Equation.DSMT4">
                  <p:embed/>
                </p:oleObj>
              </mc:Choice>
              <mc:Fallback>
                <p:oleObj name="Equation" r:id="rId5" imgW="533160" imgH="3934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48D0F01-0A6C-7089-978E-AE2388797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62459" y="2053945"/>
                        <a:ext cx="746125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10CC04D-1B7E-7959-ABB6-A446B1096D06}"/>
              </a:ext>
            </a:extLst>
          </p:cNvPr>
          <p:cNvCxnSpPr>
            <a:cxnSpLocks/>
          </p:cNvCxnSpPr>
          <p:nvPr/>
        </p:nvCxnSpPr>
        <p:spPr>
          <a:xfrm flipH="1" flipV="1">
            <a:off x="3718877" y="2559679"/>
            <a:ext cx="130805" cy="3448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99292B1-1CF2-D7FD-3A2B-B05D039530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395795"/>
              </p:ext>
            </p:extLst>
          </p:nvPr>
        </p:nvGraphicFramePr>
        <p:xfrm>
          <a:off x="3516313" y="4806950"/>
          <a:ext cx="7635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760" imgH="393480" progId="Equation.DSMT4">
                  <p:embed/>
                </p:oleObj>
              </mc:Choice>
              <mc:Fallback>
                <p:oleObj name="Equation" r:id="rId7" imgW="545760" imgH="3934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03D36FD-927A-4066-A1C8-9E3DBE8D10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16313" y="4806950"/>
                        <a:ext cx="763587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03EB613-A23E-757D-51A5-49CE17813FAC}"/>
              </a:ext>
            </a:extLst>
          </p:cNvPr>
          <p:cNvCxnSpPr/>
          <p:nvPr/>
        </p:nvCxnSpPr>
        <p:spPr>
          <a:xfrm>
            <a:off x="3635521" y="4552335"/>
            <a:ext cx="148758" cy="39329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8F41EFC0-8B3E-159C-3968-FC2AAE5093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11174"/>
              </p:ext>
            </p:extLst>
          </p:nvPr>
        </p:nvGraphicFramePr>
        <p:xfrm>
          <a:off x="7639050" y="1800225"/>
          <a:ext cx="496888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5320" imgH="177480" progId="Equation.DSMT4">
                  <p:embed/>
                </p:oleObj>
              </mc:Choice>
              <mc:Fallback>
                <p:oleObj name="Equation" r:id="rId9" imgW="355320" imgH="177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99292B1-1CF2-D7FD-3A2B-B05D039530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639050" y="1800225"/>
                        <a:ext cx="496888" cy="24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A7EEE3B6-2D5B-6119-9264-67C1485710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181287"/>
              </p:ext>
            </p:extLst>
          </p:nvPr>
        </p:nvGraphicFramePr>
        <p:xfrm>
          <a:off x="5744070" y="2959116"/>
          <a:ext cx="850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393480" progId="Equation.DSMT4">
                  <p:embed/>
                </p:oleObj>
              </mc:Choice>
              <mc:Fallback>
                <p:oleObj name="Equation" r:id="rId11" imgW="609480" imgH="3934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8F41EFC0-8B3E-159C-3968-FC2AAE5093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744070" y="2959116"/>
                        <a:ext cx="850900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00BBAB9-476D-E5F5-28B1-63E41912E0DD}"/>
              </a:ext>
            </a:extLst>
          </p:cNvPr>
          <p:cNvCxnSpPr/>
          <p:nvPr/>
        </p:nvCxnSpPr>
        <p:spPr>
          <a:xfrm>
            <a:off x="5997677" y="2802194"/>
            <a:ext cx="98323" cy="287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EFB9F-631E-2C0F-74BF-16855DEE7F0A}"/>
              </a:ext>
            </a:extLst>
          </p:cNvPr>
          <p:cNvGrpSpPr/>
          <p:nvPr/>
        </p:nvGrpSpPr>
        <p:grpSpPr>
          <a:xfrm>
            <a:off x="4689394" y="2310704"/>
            <a:ext cx="1210589" cy="584775"/>
            <a:chOff x="4689394" y="2310704"/>
            <a:chExt cx="1210589" cy="584775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FB72B6E-4D99-3A88-3522-A42A6CCC1B9A}"/>
                </a:ext>
              </a:extLst>
            </p:cNvPr>
            <p:cNvSpPr txBox="1"/>
            <p:nvPr/>
          </p:nvSpPr>
          <p:spPr>
            <a:xfrm>
              <a:off x="4689394" y="2310704"/>
              <a:ext cx="12105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以  的概率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进行购买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477C137B-710F-8CA9-FFC4-F1B061930E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41553735"/>
                </p:ext>
              </p:extLst>
            </p:nvPr>
          </p:nvGraphicFramePr>
          <p:xfrm>
            <a:off x="4980684" y="2328582"/>
            <a:ext cx="203794" cy="3056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280" imgH="228600" progId="Equation.DSMT4">
                    <p:embed/>
                  </p:oleObj>
                </mc:Choice>
                <mc:Fallback>
                  <p:oleObj name="Equation" r:id="rId13" imgW="152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4980684" y="2328582"/>
                          <a:ext cx="203794" cy="30569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90BDCF-34DD-B9ED-8F2D-27F9B303E505}"/>
              </a:ext>
            </a:extLst>
          </p:cNvPr>
          <p:cNvGrpSpPr/>
          <p:nvPr/>
        </p:nvGrpSpPr>
        <p:grpSpPr>
          <a:xfrm>
            <a:off x="3352971" y="4025045"/>
            <a:ext cx="1210589" cy="584775"/>
            <a:chOff x="4689394" y="2310704"/>
            <a:chExt cx="1210589" cy="58477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9459DF5-85FE-51CA-5189-9EC46850F39F}"/>
                </a:ext>
              </a:extLst>
            </p:cNvPr>
            <p:cNvSpPr txBox="1"/>
            <p:nvPr/>
          </p:nvSpPr>
          <p:spPr>
            <a:xfrm>
              <a:off x="4689394" y="2310704"/>
              <a:ext cx="12105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以  的概率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进行购买</a:t>
              </a:r>
              <a:endParaRPr lang="en-US" altLang="zh-CN" sz="16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5747CDC4-FE53-B1B7-4302-63CFC5AE4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229989"/>
                </p:ext>
              </p:extLst>
            </p:nvPr>
          </p:nvGraphicFramePr>
          <p:xfrm>
            <a:off x="4973386" y="2329022"/>
            <a:ext cx="220662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4880" imgH="228600" progId="Equation.DSMT4">
                    <p:embed/>
                  </p:oleObj>
                </mc:Choice>
                <mc:Fallback>
                  <p:oleObj name="Equation" r:id="rId15" imgW="164880" imgH="2286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477C137B-710F-8CA9-FFC4-F1B061930E1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973386" y="2329022"/>
                          <a:ext cx="220662" cy="304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EB77CEAE-B4A0-B2C2-0D2B-916554F28E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3573929"/>
              </p:ext>
            </p:extLst>
          </p:nvPr>
        </p:nvGraphicFramePr>
        <p:xfrm>
          <a:off x="6662047" y="3588991"/>
          <a:ext cx="1936607" cy="84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90360" imgH="431640" progId="Equation.DSMT4">
                  <p:embed/>
                </p:oleObj>
              </mc:Choice>
              <mc:Fallback>
                <p:oleObj name="Equation" r:id="rId17" imgW="990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62047" y="3588991"/>
                        <a:ext cx="1936607" cy="844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B1C8C0E9-68DF-258A-5E5C-1695963718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645340"/>
              </p:ext>
            </p:extLst>
          </p:nvPr>
        </p:nvGraphicFramePr>
        <p:xfrm>
          <a:off x="6834188" y="4394200"/>
          <a:ext cx="1612900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825480" imgH="457200" progId="Equation.DSMT4">
                  <p:embed/>
                </p:oleObj>
              </mc:Choice>
              <mc:Fallback>
                <p:oleObj name="Equation" r:id="rId19" imgW="825480" imgH="457200" progId="Equation.DSMT4">
                  <p:embed/>
                  <p:pic>
                    <p:nvPicPr>
                      <p:cNvPr id="32" name="对象 31">
                        <a:extLst>
                          <a:ext uri="{FF2B5EF4-FFF2-40B4-BE49-F238E27FC236}">
                            <a16:creationId xmlns:a16="http://schemas.microsoft.com/office/drawing/2014/main" id="{EB77CEAE-B4A0-B2C2-0D2B-916554F28E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834188" y="4394200"/>
                        <a:ext cx="1612900" cy="893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17461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9105962-AF35-C24A-4CD3-E0444BFAA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36273" y="732600"/>
            <a:ext cx="7190399" cy="5392800"/>
          </a:xfrm>
          <a:prstGeom prst="rect">
            <a:avLst/>
          </a:prstGeom>
        </p:spPr>
      </p:pic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EC71CE0-3010-F63B-A82A-623FB5A89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498699"/>
              </p:ext>
            </p:extLst>
          </p:nvPr>
        </p:nvGraphicFramePr>
        <p:xfrm>
          <a:off x="3717157" y="1392800"/>
          <a:ext cx="74453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45256" imgH="548660" progId="Equation.DSMT4">
                  <p:embed/>
                </p:oleObj>
              </mc:Choice>
              <mc:Fallback>
                <p:oleObj name="Equation" r:id="rId3" imgW="745256" imgH="5486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7157" y="1392800"/>
                        <a:ext cx="744537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D3E99AFD-3BAE-F789-CB09-95226332FA19}"/>
              </a:ext>
            </a:extLst>
          </p:cNvPr>
          <p:cNvCxnSpPr>
            <a:cxnSpLocks/>
          </p:cNvCxnSpPr>
          <p:nvPr/>
        </p:nvCxnSpPr>
        <p:spPr>
          <a:xfrm flipH="1" flipV="1">
            <a:off x="4257368" y="1858297"/>
            <a:ext cx="363793" cy="5801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A42A6CD9-409B-5139-BB84-6C299298C4FD}"/>
              </a:ext>
            </a:extLst>
          </p:cNvPr>
          <p:cNvSpPr txBox="1"/>
          <p:nvPr/>
        </p:nvSpPr>
        <p:spPr>
          <a:xfrm>
            <a:off x="6231472" y="139280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113F8C8-1CD9-2909-2E08-EE99EF2EDBC3}"/>
              </a:ext>
            </a:extLst>
          </p:cNvPr>
          <p:cNvSpPr txBox="1"/>
          <p:nvPr/>
        </p:nvSpPr>
        <p:spPr>
          <a:xfrm>
            <a:off x="8079936" y="261200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9F0522-15E4-A774-1B52-E245D87BAA76}"/>
              </a:ext>
            </a:extLst>
          </p:cNvPr>
          <p:cNvSpPr txBox="1"/>
          <p:nvPr/>
        </p:nvSpPr>
        <p:spPr>
          <a:xfrm>
            <a:off x="7027885" y="411633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3ABA95D-01B2-AD96-AEBD-AB8403B87731}"/>
              </a:ext>
            </a:extLst>
          </p:cNvPr>
          <p:cNvSpPr txBox="1"/>
          <p:nvPr/>
        </p:nvSpPr>
        <p:spPr>
          <a:xfrm>
            <a:off x="5089620" y="26120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E2698FF-D3AD-79E3-3761-7AFCAA721604}"/>
              </a:ext>
            </a:extLst>
          </p:cNvPr>
          <p:cNvSpPr txBox="1"/>
          <p:nvPr/>
        </p:nvSpPr>
        <p:spPr>
          <a:xfrm>
            <a:off x="3725267" y="2796666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D43C38-FD95-3E1F-5D06-057EFFCE2EA2}"/>
              </a:ext>
            </a:extLst>
          </p:cNvPr>
          <p:cNvSpPr txBox="1"/>
          <p:nvPr/>
        </p:nvSpPr>
        <p:spPr>
          <a:xfrm>
            <a:off x="3500228" y="39316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E66CBD3-EBDB-5418-FF1B-A6A3FE878FA4}"/>
              </a:ext>
            </a:extLst>
          </p:cNvPr>
          <p:cNvSpPr txBox="1"/>
          <p:nvPr/>
        </p:nvSpPr>
        <p:spPr>
          <a:xfrm>
            <a:off x="3858567" y="393483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5FA64C1-E560-9FE2-DE5D-2150E9D0B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579401"/>
              </p:ext>
            </p:extLst>
          </p:nvPr>
        </p:nvGraphicFramePr>
        <p:xfrm>
          <a:off x="6096000" y="3165998"/>
          <a:ext cx="850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09480" imgH="393480" progId="Equation.DSMT4">
                  <p:embed/>
                </p:oleObj>
              </mc:Choice>
              <mc:Fallback>
                <p:oleObj name="Equation" r:id="rId5" imgW="609480" imgH="39348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A7EEE3B6-2D5B-6119-9264-67C1485710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0" y="3165998"/>
                        <a:ext cx="850900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B2DA692-C07D-57ED-2A15-710C224500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205009"/>
              </p:ext>
            </p:extLst>
          </p:nvPr>
        </p:nvGraphicFramePr>
        <p:xfrm>
          <a:off x="4207412" y="4523719"/>
          <a:ext cx="763587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760" imgH="393480" progId="Equation.DSMT4">
                  <p:embed/>
                </p:oleObj>
              </mc:Choice>
              <mc:Fallback>
                <p:oleObj name="Equation" r:id="rId7" imgW="545760" imgH="3934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99292B1-1CF2-D7FD-3A2B-B05D039530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07412" y="4523719"/>
                        <a:ext cx="763587" cy="549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79A4B53-04FB-ABA7-AEC3-1537C76ACB98}"/>
              </a:ext>
            </a:extLst>
          </p:cNvPr>
          <p:cNvCxnSpPr/>
          <p:nvPr/>
        </p:nvCxnSpPr>
        <p:spPr>
          <a:xfrm>
            <a:off x="6231472" y="2981332"/>
            <a:ext cx="130805" cy="3223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BBE0436-79FD-58FD-74A6-98554007178B}"/>
              </a:ext>
            </a:extLst>
          </p:cNvPr>
          <p:cNvCxnSpPr/>
          <p:nvPr/>
        </p:nvCxnSpPr>
        <p:spPr>
          <a:xfrm>
            <a:off x="4089425" y="4414684"/>
            <a:ext cx="276098" cy="2753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52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108</Words>
  <Application>Microsoft Office PowerPoint</Application>
  <PresentationFormat>宽屏</PresentationFormat>
  <Paragraphs>40</Paragraphs>
  <Slides>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3067197864@qq.com</dc:creator>
  <cp:lastModifiedBy>3067197864@qq.com</cp:lastModifiedBy>
  <cp:revision>12</cp:revision>
  <dcterms:created xsi:type="dcterms:W3CDTF">2025-12-23T10:54:17Z</dcterms:created>
  <dcterms:modified xsi:type="dcterms:W3CDTF">2025-12-25T03:48:41Z</dcterms:modified>
</cp:coreProperties>
</file>